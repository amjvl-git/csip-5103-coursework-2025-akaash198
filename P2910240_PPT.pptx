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C4C6BA-8CDB-4C2E-8B44-41C9BEA710A6}">
  <a:tblStyle styleId="{FDC4C6BA-8CDB-4C2E-8B44-41C9BEA710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00619223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100619223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SLIDES_API1006192236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SLIDES_API1006192236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SLIDES_API1006192236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SLIDES_API1006192236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SLIDES_API1006192236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SLIDES_API1006192236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SLIDES_API1006192236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SLIDES_API1006192236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SLIDES_API1006192236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SLIDES_API1006192236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SLIDES_API1006192236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SLIDES_API1006192236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SLIDES_API1006192236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SLIDES_API1006192236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SLIDES_API1006192236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SLIDES_API100619223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SLIDES_API1006192236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SLIDES_API1006192236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ffceedf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ffceedf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0" y="0"/>
            <a:ext cx="9144000" cy="101700"/>
          </a:xfrm>
          <a:prstGeom prst="rect">
            <a:avLst/>
          </a:prstGeom>
          <a:solidFill>
            <a:srgbClr val="FF6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762000" y="1524000"/>
            <a:ext cx="762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Neural Network Model for</a:t>
            </a:r>
            <a:endParaRPr b="1" sz="3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Fashion-MNIST Image Classification</a:t>
            </a:r>
            <a:endParaRPr b="1" sz="3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762000" y="3302000"/>
            <a:ext cx="76200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3F2FD"/>
                </a:solidFill>
                <a:latin typeface="Roboto"/>
                <a:ea typeface="Roboto"/>
                <a:cs typeface="Roboto"/>
                <a:sym typeface="Roboto"/>
              </a:rPr>
              <a:t>AKAASH CHELLAPANDIYAN - P2910240</a:t>
            </a:r>
            <a:endParaRPr sz="1800">
              <a:solidFill>
                <a:srgbClr val="E3F2F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3F2FD"/>
                </a:solidFill>
                <a:latin typeface="Roboto"/>
                <a:ea typeface="Roboto"/>
                <a:cs typeface="Roboto"/>
                <a:sym typeface="Roboto"/>
              </a:rPr>
              <a:t>CSIP 5103</a:t>
            </a:r>
            <a:r>
              <a:rPr lang="en" sz="1800">
                <a:solidFill>
                  <a:srgbClr val="E3F2FD"/>
                </a:solidFill>
                <a:latin typeface="Roboto"/>
                <a:ea typeface="Roboto"/>
                <a:cs typeface="Roboto"/>
                <a:sym typeface="Roboto"/>
              </a:rPr>
              <a:t>: Neural Networks &amp; NLP</a:t>
            </a:r>
            <a:endParaRPr sz="1800">
              <a:solidFill>
                <a:srgbClr val="E3F2F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3F2FD"/>
                </a:solidFill>
                <a:latin typeface="Roboto"/>
                <a:ea typeface="Roboto"/>
                <a:cs typeface="Roboto"/>
                <a:sym typeface="Roboto"/>
              </a:rPr>
              <a:t>November 5, 2025</a:t>
            </a:r>
            <a:endParaRPr sz="1800">
              <a:solidFill>
                <a:srgbClr val="E3F2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835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635000" y="127000"/>
            <a:ext cx="7874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 Overview</a:t>
            </a:r>
            <a:endParaRPr b="1" sz="2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35000" y="1016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rPr>
              <a:t>Objective:</a:t>
            </a:r>
            <a:endParaRPr b="1" sz="1600">
              <a:solidFill>
                <a:srgbClr val="3F51B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889000" y="1460500"/>
            <a:ext cx="736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To build and train neural networks to classify clothing items from the Fashion-MNIST dataset.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35000" y="20955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rPr>
              <a:t>Models Compared:</a:t>
            </a:r>
            <a:endParaRPr b="1" sz="1600">
              <a:solidFill>
                <a:srgbClr val="3F51B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889000" y="2540000"/>
            <a:ext cx="7365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MLP Classifier (ANN): A baseline fully connected network.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Convolutional Classifier (CNN): An advanced network for image recognition.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35000" y="3429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endParaRPr b="1" sz="1600">
              <a:solidFill>
                <a:srgbClr val="3F51B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889000" y="3873500"/>
            <a:ext cx="736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To compare the performance of the two classifiers and analyze the results.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835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635000" y="127000"/>
            <a:ext cx="787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Fashion-MNIST Dataset</a:t>
            </a:r>
            <a:endParaRPr b="1" sz="2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635000" y="1016000"/>
            <a:ext cx="4064100" cy="3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Source: Loaded directly from local files cloned from the official GitHub repository.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Content: 60,000 grayscale images (28×28 pixels).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10 Apparel Categories: T-shirt/top, Trouser, Pullover, Dress, Coat, Sandal, Shirt, Sneaker, Bag, Ankle boot.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5" title="fashion_mnist_samp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00" y="1758925"/>
            <a:ext cx="4140101" cy="207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835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635000" y="127000"/>
            <a:ext cx="787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Preprocessing </a:t>
            </a:r>
            <a:endParaRPr b="1" sz="2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635000" y="1016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rPr>
              <a:t>Key Steps:</a:t>
            </a:r>
            <a:endParaRPr b="1" sz="1600">
              <a:solidFill>
                <a:srgbClr val="3F51B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889000" y="1460500"/>
            <a:ext cx="7365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1. Load Data: A custom function was used to read the raw data files.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2. Normalize Pixel Values: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 • Scaled pixel values from 0-255 down to 0-1.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 • This step is crucial for efficient training.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3. Reshape Data for CNN: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 • A channel dimension was added to the image arrays specifically for the CNN.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635000" y="36195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rPr>
              <a:t>Final Data Shapes for Training:</a:t>
            </a:r>
            <a:endParaRPr b="1" sz="1600">
              <a:solidFill>
                <a:srgbClr val="3F51B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889000" y="4064000"/>
            <a:ext cx="7365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MLP Input Shape: (60000, 28, 28)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CNN Input Shape: (60000, 28, 28, 1)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835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635000" y="127000"/>
            <a:ext cx="787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 1: The MLP Classifier (ANN)</a:t>
            </a:r>
            <a:endParaRPr b="1" sz="2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635000" y="1016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rPr>
              <a:t>A simple Multi-Layer Perceptron.</a:t>
            </a:r>
            <a:endParaRPr b="1" sz="1600">
              <a:solidFill>
                <a:srgbClr val="3F51B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635000" y="1524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rPr>
              <a:t>Architecture (mlp_classifier):</a:t>
            </a:r>
            <a:endParaRPr b="1" sz="1600">
              <a:solidFill>
                <a:srgbClr val="3F51B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635000" y="1968500"/>
            <a:ext cx="3810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1. Flatten Layer: Converts the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 (28, 28) image into a 784-pixel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 vector.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2. Dense Layer: 128 neurons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 (ReLU activation).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3. Output Layer: 10 neurons for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 10 classes (Softmax activation).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4699000" y="1524000"/>
            <a:ext cx="3810000" cy="311160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4699000" y="1905000"/>
            <a:ext cx="38100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MLP Architecture Diagram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Input (28×28)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↓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Flatten (784)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↓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Dense (128, ReLU)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↓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Output (10, Softmax)</a:t>
            </a:r>
            <a:endParaRPr>
              <a:solidFill>
                <a:srgbClr val="42424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835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635000" y="127000"/>
            <a:ext cx="7874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 2: The Convolutional Classifier (CNN)</a:t>
            </a:r>
            <a:endParaRPr b="1" sz="2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635000" y="1016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rPr>
              <a:t>Designed to recognize spatial patterns in images.</a:t>
            </a:r>
            <a:endParaRPr b="1" sz="1600">
              <a:solidFill>
                <a:srgbClr val="3F51B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635000" y="1524000"/>
            <a:ext cx="406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rPr>
              <a:t>Architecture (convolutional_classifier):</a:t>
            </a:r>
            <a:endParaRPr b="1" sz="1600">
              <a:solidFill>
                <a:srgbClr val="3F51B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635000" y="1968500"/>
            <a:ext cx="3810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1. Conv2D Layer (32 filters) +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 MaxPooling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 (Input shape: 28, 28, 1)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2. Conv2D Layer (64 filters) +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 MaxPooling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3. Flatten Layer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4. Dense Layer (128 neurons)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5. Output Layer (10 neurons)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699000" y="1524000"/>
            <a:ext cx="3810000" cy="346080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4699000" y="1841500"/>
            <a:ext cx="38100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CNN Architecture Diagram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Input (28×28×1)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↓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Conv2D (32) + Pool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↓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Conv2D (64) + Pool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↓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Flatten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↓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Dense (128)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↓</a:t>
            </a:r>
            <a:endParaRPr>
              <a:solidFill>
                <a:srgbClr val="42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</a:rPr>
              <a:t>Output (10)</a:t>
            </a:r>
            <a:endParaRPr>
              <a:solidFill>
                <a:srgbClr val="42424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835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 txBox="1"/>
          <p:nvPr/>
        </p:nvSpPr>
        <p:spPr>
          <a:xfrm>
            <a:off x="635000" y="127000"/>
            <a:ext cx="787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Performance Results</a:t>
            </a:r>
            <a:endParaRPr b="1" sz="2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635000" y="1016000"/>
            <a:ext cx="787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The evaluation on the 10,000-image test set produced a clear winner.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7" name="Google Shape;117;p19"/>
          <p:cNvGraphicFramePr/>
          <p:nvPr/>
        </p:nvGraphicFramePr>
        <p:xfrm>
          <a:off x="881225" y="173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{FDC4C6BA-8CDB-4C2E-8B44-41C9BEA710A6}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FFFFFF"/>
                          </a:solidFill>
                        </a:rPr>
                        <a:t>Classifier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FFFFFF"/>
                          </a:solidFill>
                        </a:rPr>
                        <a:t>Test Accuracy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A237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MLP (ANN)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88.39%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8EA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CNN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5CA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90.98%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5CAE9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19"/>
          <p:cNvSpPr/>
          <p:nvPr/>
        </p:nvSpPr>
        <p:spPr>
          <a:xfrm>
            <a:off x="1524000" y="3302000"/>
            <a:ext cx="6096000" cy="888900"/>
          </a:xfrm>
          <a:prstGeom prst="roundRect">
            <a:avLst>
              <a:gd fmla="val 16667" name="adj"/>
            </a:avLst>
          </a:prstGeom>
          <a:solidFill>
            <a:srgbClr val="FFF3E0"/>
          </a:solidFill>
          <a:ln cap="flat" cmpd="sng" w="381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/>
        </p:nvSpPr>
        <p:spPr>
          <a:xfrm>
            <a:off x="1778000" y="3492500"/>
            <a:ext cx="5588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12121"/>
                </a:solidFill>
              </a:rPr>
              <a:t>Key Takeaway: The CNN's specialized architecture is far more effective for image data.</a:t>
            </a:r>
            <a:endParaRPr b="1" sz="1500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835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635000" y="127000"/>
            <a:ext cx="787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Where Does the CNN Get Confused?</a:t>
            </a:r>
            <a:endParaRPr b="1" sz="2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635000" y="1016000"/>
            <a:ext cx="4445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rPr>
              <a:t>Analysis of the Confusion Matrix:</a:t>
            </a:r>
            <a:endParaRPr b="1" sz="1600">
              <a:solidFill>
                <a:srgbClr val="3F51B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635000" y="1460500"/>
            <a:ext cx="4445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The model easily identifies distinct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items like Trousers, Sandals, and Bags.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Most prediction errors happen between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visually similar classes.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635000" y="2857500"/>
            <a:ext cx="4445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rPr>
              <a:t>Example Misclassifications:</a:t>
            </a:r>
            <a:endParaRPr b="1" sz="1600">
              <a:solidFill>
                <a:srgbClr val="3F51B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635000" y="3302000"/>
            <a:ext cx="44451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"Shirt" is sometimes confused with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"T-shirt", "Pullover", and "Coat".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p20" title="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275" y="1295000"/>
            <a:ext cx="3759102" cy="3132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835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635000" y="127000"/>
            <a:ext cx="787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Live Demonstration</a:t>
            </a:r>
            <a:endParaRPr b="1" sz="2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635000" y="1016000"/>
            <a:ext cx="787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Let's test the trained convolutional_classifier on a few random images from the test set.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2540000" y="2346550"/>
            <a:ext cx="4064100" cy="635100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 cap="flat" cmpd="sng" w="254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2540000" y="2473600"/>
            <a:ext cx="406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7D32"/>
                </a:solidFill>
              </a:rPr>
              <a:t>🔴 LIVE DEMO</a:t>
            </a:r>
            <a:endParaRPr b="1" sz="2000">
              <a:solidFill>
                <a:srgbClr val="2E7D3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835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 txBox="1"/>
          <p:nvPr/>
        </p:nvSpPr>
        <p:spPr>
          <a:xfrm>
            <a:off x="635000" y="127000"/>
            <a:ext cx="787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Future Work</a:t>
            </a:r>
            <a:endParaRPr b="1" sz="2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635000" y="1016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rPr>
              <a:t>Conclusion:</a:t>
            </a:r>
            <a:endParaRPr b="1" sz="1600">
              <a:solidFill>
                <a:srgbClr val="3F51B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889000" y="1460500"/>
            <a:ext cx="7365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The Convolutional Classifier is the superior model, achieving 90.98% accuracy.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The project successfully demonstrates the importance of architecture selection for the data type.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635000" y="27305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rPr>
              <a:t>Future Work to Improve Performance:</a:t>
            </a:r>
            <a:endParaRPr b="1" sz="1600">
              <a:solidFill>
                <a:srgbClr val="3F51B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889000" y="3175000"/>
            <a:ext cx="7365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Data Augmentation: To build a more robust model.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Dropout Regularization: To reduce overfitting.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• Architectural Tuning: Experiment with deeper or wider networks.</a:t>
            </a:r>
            <a:endParaRPr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/>
        </p:nvSpPr>
        <p:spPr>
          <a:xfrm>
            <a:off x="635000" y="127000"/>
            <a:ext cx="787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Future Work</a:t>
            </a:r>
            <a:endParaRPr b="1" sz="2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2286000" y="1462650"/>
            <a:ext cx="4572000" cy="2218200"/>
          </a:xfrm>
          <a:prstGeom prst="roundRect">
            <a:avLst>
              <a:gd fmla="val 16667" name="adj"/>
            </a:avLst>
          </a:prstGeom>
          <a:solidFill>
            <a:srgbClr val="1A237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2286000" y="238125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</a:rPr>
              <a:t>Thank you! Any Questions?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